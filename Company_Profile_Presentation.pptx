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Background image: https://pngtree.com/freebackground/smart-city-and-abstract-line-dot-connect-network-big-data-connection-technology-digital-transformation_2500219.html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Provided CV: Khumbudzo_Mufamadi_Senior_Business_Analyst_CV.docx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Business analysis illustration icon (iconfinder): https://www.iconfinder.com/icons/13029448/business_analysis_analyst_swot_requirements_gathering_process_improvement_icon
- Customer journey mapping icon (pngtree): https://pngtree.com/freepng/customer-journey-mapping-rgb-color-icon-management-flat-line-vector_11015479.html
- AI strategy icon (iconfinder): https://www.iconfinder.com/icons/11055698/ai_process_ideas_strategy_artificial_intelligence_business_planning_icon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Business analysis illustration icon (iconfinder): https://www.iconfinder.com/icons/13029448/business_analysis_analyst_swot_requirements_gathering_process_improvement_icon
- Customer journey mapping icon (pngtree): https://pngtree.com/freepng/customer-journey-mapping-rgb-color-icon-management-flat-line-vector_11015479.html
- AI strategy icon (iconfinder): https://www.iconfinder.com/icons/11055698/ai_process_ideas_strategy_artificial_intelligence_business_planning_icon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Provided CV: Khumbudzo_Mufamadi_Senior_Business_Analyst_CV.docx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Pricing is indicative and based on packaged consulting structure (not a quoted market rate).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Provided CV: Khumbudzo_Mufamadi_Senior_Business_Analyst_CV.docx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Provided CV: Khumbudzo_Mufamadi_Senior_Business_Analyst_CV.docx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Background image: https://pngtree.com/freebackground/smart-city-and-abstract-line-dot-connect-network-big-data-connection-technology-digital-transformation_2500219.html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ssets/digital_city_bg.jpg">    </p:cNvPr>
          <p:cNvPicPr>
            <a:picLocks noChangeAspect="1"/>
          </p:cNvPicPr>
          <p:nvPr/>
        </p:nvPicPr>
        <p:blipFill>
          <a:blip r:embed="rId1"/>
          <a:srcRect l="0" r="0" t="10609" b="10609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F3A">
              <a:alpha val="6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00B3C6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141732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Khumbudzo Mufamadi Consulting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822960" y="214884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Analysis • Strategy • Customer Experience • Digital Transformation • AI Strategy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61722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Johannesburg, South Africa  |  060 569 3798  |  khumbudzo.mufamadi@gmail.com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21792"/>
            <a:ext cx="12188952" cy="36576"/>
          </a:xfrm>
          <a:prstGeom prst="rect">
            <a:avLst/>
          </a:prstGeom>
          <a:solidFill>
            <a:srgbClr val="00B3C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Profile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0" y="201168"/>
            <a:ext cx="441655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D9E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Analysis • Strategy • CX • Digital Transformation • AI Strategy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Khumbudzo Mufamadi Consulting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0" y="6565392"/>
            <a:ext cx="5330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packages • Pricing excludes VAT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960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11091672" cy="1828800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737360"/>
            <a:ext cx="10424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Specialised consulting to help organisations modernise operations, improve customer experience, and execute digital transformation.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bridge business needs and technology delivery through structured requirements, process optimisation, governance alignment, and data-driven decision making.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3520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expect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56235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4160520"/>
            <a:ext cx="50749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Senior-level analysis and facilitation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documentation (BRS/FRD, user stories, traceability)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delivery support (UAT, change impacts, sign-off packs)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Customer-centric design and measurable KPIs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readiness, prioritised use cases, and responsible AI guardrails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55080" y="3931920"/>
            <a:ext cx="5285232" cy="2331720"/>
          </a:xfrm>
          <a:prstGeom prst="roundRect">
            <a:avLst/>
          </a:prstGeom>
          <a:solidFill>
            <a:srgbClr val="0F2B4D"/>
          </a:solidFill>
          <a:ln w="12700">
            <a:solidFill>
              <a:srgbClr val="0F2B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4160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snapshot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629400" y="457200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9E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11+ years in business &amp; systems analysis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9E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sector, finance, and transformation programmes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9E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ERP/CRM/SAP and web-based systems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9E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compliance awareness (POPIA, PFMA, King IV)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21792"/>
            <a:ext cx="12188952" cy="36576"/>
          </a:xfrm>
          <a:prstGeom prst="rect">
            <a:avLst/>
          </a:prstGeom>
          <a:solidFill>
            <a:srgbClr val="00B3C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0" y="201168"/>
            <a:ext cx="441655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D9E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strategy to implementation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Khumbudzo Mufamadi Consulting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0" y="6565392"/>
            <a:ext cx="5330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packages • Pricing excludes VAT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9601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capabilities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3483864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600200"/>
            <a:ext cx="3483864" cy="164592"/>
          </a:xfrm>
          <a:prstGeom prst="roundRect">
            <a:avLst/>
          </a:prstGeom>
          <a:solidFill>
            <a:srgbClr val="2D8CFF"/>
          </a:solidFill>
          <a:ln w="12700">
            <a:solidFill>
              <a:srgbClr val="2D8CFF"/>
            </a:solidFill>
            <a:prstDash val="solid"/>
          </a:ln>
        </p:spPr>
      </p:sp>
      <p:pic>
        <p:nvPicPr>
          <p:cNvPr id="11" name="Image 0" descr="/mnt/data/assets/business_analysis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02152" y="178308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77240" y="1856232"/>
            <a:ext cx="21579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Analysis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77240" y="2258568"/>
            <a:ext cx="224942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Requirements, traceability, UAT, solution validation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352544" y="1600200"/>
            <a:ext cx="3483864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352544" y="1600200"/>
            <a:ext cx="3483864" cy="164592"/>
          </a:xfrm>
          <a:prstGeom prst="roundRect">
            <a:avLst/>
          </a:prstGeom>
          <a:solidFill>
            <a:srgbClr val="00A36C"/>
          </a:solidFill>
          <a:ln w="12700">
            <a:solidFill>
              <a:srgbClr val="00A36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81144" y="1856232"/>
            <a:ext cx="21579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Strategy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581144" y="2258568"/>
            <a:ext cx="224942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Roadmaps, gap analysis, operating model support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156448" y="1600200"/>
            <a:ext cx="3483864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156448" y="1600200"/>
            <a:ext cx="3483864" cy="164592"/>
          </a:xfrm>
          <a:prstGeom prst="roundRect">
            <a:avLst/>
          </a:prstGeom>
          <a:solidFill>
            <a:srgbClr val="B56BFF"/>
          </a:solidFill>
          <a:ln w="12700">
            <a:solidFill>
              <a:srgbClr val="B56BFF"/>
            </a:solidFill>
            <a:prstDash val="solid"/>
          </a:ln>
        </p:spPr>
      </p:sp>
      <p:pic>
        <p:nvPicPr>
          <p:cNvPr id="20" name="Image 1" descr="/mnt/data/assets/customer_journey_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783080"/>
            <a:ext cx="365760" cy="3657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385048" y="1856232"/>
            <a:ext cx="21579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8385048" y="2258568"/>
            <a:ext cx="224942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mapping, service design, CX metrics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548640" y="3886200"/>
            <a:ext cx="3483864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548640" y="3886200"/>
            <a:ext cx="3483864" cy="164592"/>
          </a:xfrm>
          <a:prstGeom prst="roundRect">
            <a:avLst/>
          </a:prstGeom>
          <a:solidFill>
            <a:srgbClr val="00B3C6"/>
          </a:solidFill>
          <a:ln w="12700">
            <a:solidFill>
              <a:srgbClr val="00B3C6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77240" y="4142232"/>
            <a:ext cx="21579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Optimisation</a:t>
            </a:r>
            <a:endParaRPr lang="en-US" sz="1800" dirty="0"/>
          </a:p>
        </p:txBody>
      </p:sp>
      <p:sp>
        <p:nvSpPr>
          <p:cNvPr id="26" name="Text 22"/>
          <p:cNvSpPr/>
          <p:nvPr/>
        </p:nvSpPr>
        <p:spPr>
          <a:xfrm>
            <a:off x="777240" y="4544568"/>
            <a:ext cx="224942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As-is/to-be mapping and automation opportunities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4352544" y="3886200"/>
            <a:ext cx="3483864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4352544" y="3886200"/>
            <a:ext cx="3483864" cy="164592"/>
          </a:xfrm>
          <a:prstGeom prst="roundRect">
            <a:avLst/>
          </a:prstGeom>
          <a:solidFill>
            <a:srgbClr val="FF8C2D"/>
          </a:solidFill>
          <a:ln w="12700">
            <a:solidFill>
              <a:srgbClr val="FF8C2D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581144" y="4142232"/>
            <a:ext cx="21579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Reporting</a:t>
            </a:r>
            <a:endParaRPr lang="en-US" sz="1800" dirty="0"/>
          </a:p>
        </p:txBody>
      </p:sp>
      <p:sp>
        <p:nvSpPr>
          <p:cNvPr id="30" name="Text 26"/>
          <p:cNvSpPr/>
          <p:nvPr/>
        </p:nvSpPr>
        <p:spPr>
          <a:xfrm>
            <a:off x="4581144" y="4544568"/>
            <a:ext cx="224942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frameworks and Power BI dashboard requirements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8156448" y="3886200"/>
            <a:ext cx="3483864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8156448" y="3886200"/>
            <a:ext cx="3483864" cy="164592"/>
          </a:xfrm>
          <a:prstGeom prst="round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pic>
        <p:nvPicPr>
          <p:cNvPr id="33" name="Image 2" descr="/mnt/data/assets/ai_strategy_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069080"/>
            <a:ext cx="365760" cy="36576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8385048" y="4142232"/>
            <a:ext cx="21579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Strategy</a:t>
            </a:r>
            <a:endParaRPr lang="en-US" sz="1800" dirty="0"/>
          </a:p>
        </p:txBody>
      </p:sp>
      <p:sp>
        <p:nvSpPr>
          <p:cNvPr id="35" name="Text 30"/>
          <p:cNvSpPr/>
          <p:nvPr/>
        </p:nvSpPr>
        <p:spPr>
          <a:xfrm>
            <a:off x="8385048" y="4544568"/>
            <a:ext cx="224942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Readiness, use cases, governance, roadmap &amp; adoption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21792"/>
            <a:ext cx="12188952" cy="36576"/>
          </a:xfrm>
          <a:prstGeom prst="rect">
            <a:avLst/>
          </a:prstGeom>
          <a:solidFill>
            <a:srgbClr val="00B3C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0" y="201168"/>
            <a:ext cx="441655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D9E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offer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Khumbudzo Mufamadi Consulting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0" y="6565392"/>
            <a:ext cx="5330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packages • Pricing excludes VAT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9601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lines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56692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600200"/>
            <a:ext cx="5669280" cy="164592"/>
          </a:xfrm>
          <a:prstGeom prst="roundRect">
            <a:avLst/>
          </a:prstGeom>
          <a:solidFill>
            <a:srgbClr val="2D8CFF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856232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Analysis</a:t>
            </a:r>
            <a:endParaRPr lang="en-US" sz="1600" dirty="0"/>
          </a:p>
        </p:txBody>
      </p:sp>
      <p:pic>
        <p:nvPicPr>
          <p:cNvPr id="12" name="Image 0" descr="/mnt/data/assets/business_analysis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4688" y="1746504"/>
            <a:ext cx="502920" cy="5029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22960" y="237744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BRS/FRD, user stories &amp; acceptance criteria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Traceability, scope control, change impacts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planning, execution support, sign-off packs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validation &amp; stakeholder workshops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0" y="1600200"/>
            <a:ext cx="523951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00800" y="1600200"/>
            <a:ext cx="5239512" cy="164592"/>
          </a:xfrm>
          <a:prstGeom prst="roundRect">
            <a:avLst/>
          </a:prstGeom>
          <a:solidFill>
            <a:srgbClr val="00A36C"/>
          </a:solidFill>
          <a:ln w="12700">
            <a:solidFill>
              <a:srgbClr val="00A36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29400" y="1856232"/>
            <a:ext cx="4187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&amp; Strategy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675120" y="2377440"/>
            <a:ext cx="46908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transformation roadmaps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optimisation &amp; automation opportunities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 and capability assessments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Governance-aligned delivery assurance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4160520"/>
            <a:ext cx="56692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4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48640" y="4160520"/>
            <a:ext cx="5669280" cy="164592"/>
          </a:xfrm>
          <a:prstGeom prst="roundRect">
            <a:avLst/>
          </a:prstGeom>
          <a:solidFill>
            <a:srgbClr val="B56BFF"/>
          </a:solidFill>
          <a:ln w="12700">
            <a:solidFill>
              <a:srgbClr val="B56B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7240" y="4416552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 (CX)</a:t>
            </a:r>
            <a:endParaRPr lang="en-US" sz="1600" dirty="0"/>
          </a:p>
        </p:txBody>
      </p:sp>
      <p:pic>
        <p:nvPicPr>
          <p:cNvPr id="21" name="Image 1" descr="/mnt/data/assets/customer_journey_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4688" y="4306824"/>
            <a:ext cx="502920" cy="5029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22960" y="493776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journey mapping &amp; service blueprints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channel experience improvements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VoC, CX KPIs and measurement frameworks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Prioritised backlog for delivery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400800" y="4160520"/>
            <a:ext cx="523951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4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400800" y="4160520"/>
            <a:ext cx="5239512" cy="164592"/>
          </a:xfrm>
          <a:prstGeom prst="roundRect">
            <a:avLst/>
          </a:prstGeom>
          <a:solidFill>
            <a:srgbClr val="FF8C2D"/>
          </a:solidFill>
          <a:ln w="12700">
            <a:solidFill>
              <a:srgbClr val="FF8C2D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629400" y="4416552"/>
            <a:ext cx="4187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Strategy Consulting</a:t>
            </a:r>
            <a:endParaRPr lang="en-US" sz="1600" dirty="0"/>
          </a:p>
        </p:txBody>
      </p:sp>
      <p:pic>
        <p:nvPicPr>
          <p:cNvPr id="26" name="Image 2" descr="/mnt/data/assets/ai_strategy_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4306824"/>
            <a:ext cx="502920" cy="50292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675120" y="4937760"/>
            <a:ext cx="46908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readiness (data, process, skills, risk)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pipeline and prioritisation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governance (privacy, bias, controls)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roadmap and adoption/change plan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21792"/>
            <a:ext cx="12188952" cy="36576"/>
          </a:xfrm>
          <a:prstGeom prst="rect">
            <a:avLst/>
          </a:prstGeom>
          <a:solidFill>
            <a:srgbClr val="00B3C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0" y="201168"/>
            <a:ext cx="441655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D9E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→ Optimise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Khumbudzo Mufamadi Consulting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0" y="6565392"/>
            <a:ext cx="5330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packages • Pricing excludes VAT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9601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delivery approach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2148840" y="2377440"/>
            <a:ext cx="1371600" cy="0"/>
          </a:xfrm>
          <a:prstGeom prst="line">
            <a:avLst/>
          </a:prstGeom>
          <a:noFill/>
          <a:ln w="38100">
            <a:solidFill>
              <a:srgbClr val="D9E2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2057400"/>
            <a:ext cx="768096" cy="768096"/>
          </a:xfrm>
          <a:prstGeom prst="ellipse">
            <a:avLst/>
          </a:prstGeom>
          <a:solidFill>
            <a:srgbClr val="00B3C6"/>
          </a:solidFill>
          <a:ln>
            <a:solidFill>
              <a:srgbClr val="00B3C6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29260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9808" y="3246120"/>
            <a:ext cx="197510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Goals, pain points, stakeholders, users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43400" y="2377440"/>
            <a:ext cx="1371600" cy="0"/>
          </a:xfrm>
          <a:prstGeom prst="line">
            <a:avLst/>
          </a:prstGeom>
          <a:noFill/>
          <a:ln w="3810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2057400"/>
            <a:ext cx="768096" cy="768096"/>
          </a:xfrm>
          <a:prstGeom prst="ellipse">
            <a:avLst/>
          </a:prstGeom>
          <a:solidFill>
            <a:srgbClr val="00B3C6"/>
          </a:solidFill>
          <a:ln>
            <a:solidFill>
              <a:srgbClr val="00B3C6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880360" y="29260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944368" y="3246120"/>
            <a:ext cx="197510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Requirements, gaps, processes &amp; journeys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37960" y="2377440"/>
            <a:ext cx="1371600" cy="0"/>
          </a:xfrm>
          <a:prstGeom prst="line">
            <a:avLst/>
          </a:prstGeom>
          <a:noFill/>
          <a:ln w="38100">
            <a:solidFill>
              <a:srgbClr val="D9E2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42432" y="2057400"/>
            <a:ext cx="768096" cy="768096"/>
          </a:xfrm>
          <a:prstGeom prst="ellipse">
            <a:avLst/>
          </a:prstGeom>
          <a:solidFill>
            <a:srgbClr val="00B3C6"/>
          </a:solidFill>
          <a:ln>
            <a:solidFill>
              <a:srgbClr val="00B3C6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74920" y="29260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38928" y="3246120"/>
            <a:ext cx="197510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state, solution options, KPIs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732520" y="2377440"/>
            <a:ext cx="1371600" cy="0"/>
          </a:xfrm>
          <a:prstGeom prst="line">
            <a:avLst/>
          </a:prstGeom>
          <a:noFill/>
          <a:ln w="38100">
            <a:solidFill>
              <a:srgbClr val="D9E2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36992" y="2057400"/>
            <a:ext cx="768096" cy="768096"/>
          </a:xfrm>
          <a:prstGeom prst="ellipse">
            <a:avLst/>
          </a:prstGeom>
          <a:solidFill>
            <a:srgbClr val="00B3C6"/>
          </a:solidFill>
          <a:ln>
            <a:solidFill>
              <a:srgbClr val="00B3C6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69480" y="29260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33488" y="3246120"/>
            <a:ext cx="197510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support, UAT, adoption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131552" y="2057400"/>
            <a:ext cx="768096" cy="768096"/>
          </a:xfrm>
          <a:prstGeom prst="ellipse">
            <a:avLst/>
          </a:prstGeom>
          <a:solidFill>
            <a:srgbClr val="00B3C6"/>
          </a:solidFill>
          <a:ln>
            <a:solidFill>
              <a:srgbClr val="00B3C6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464040" y="29260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528048" y="3246120"/>
            <a:ext cx="197510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outcomes, continuous improvement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617720"/>
            <a:ext cx="11091672" cy="1874520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47365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deliverables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68680" y="5074920"/>
            <a:ext cx="104241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As-is/to-be processes and customer journeys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BRS/FRD, user stories, acceptance criteria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matrix and scope baseline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plan, scripts, defect logs and sign-off pack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Roadmaps, KPIs and dashboard requirements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readiness and AI roadmap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21792"/>
            <a:ext cx="12188952" cy="36576"/>
          </a:xfrm>
          <a:prstGeom prst="rect">
            <a:avLst/>
          </a:prstGeom>
          <a:solidFill>
            <a:srgbClr val="00B3C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Packages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0" y="201168"/>
            <a:ext cx="441655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D9E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Quick-start options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Khumbudzo Mufamadi Consulting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0" y="6565392"/>
            <a:ext cx="5330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packages • Pricing excludes VAT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9601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packages (excl. VAT)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3502152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691640"/>
            <a:ext cx="3502152" cy="164592"/>
          </a:xfrm>
          <a:prstGeom prst="roundRect">
            <a:avLst/>
          </a:prstGeom>
          <a:solidFill>
            <a:srgbClr val="00B3C6"/>
          </a:solidFill>
          <a:ln w="12700">
            <a:solidFill>
              <a:srgbClr val="00B3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947672"/>
            <a:ext cx="3044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Workshop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2331720"/>
            <a:ext cx="3044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2651760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R18k–R45k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343400" y="1691640"/>
            <a:ext cx="3502152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43400" y="1691640"/>
            <a:ext cx="3502152" cy="164592"/>
          </a:xfrm>
          <a:prstGeom prst="roundRect">
            <a:avLst/>
          </a:prstGeom>
          <a:solidFill>
            <a:srgbClr val="2D8CFF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1947672"/>
            <a:ext cx="3044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Sprint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0" y="2331720"/>
            <a:ext cx="3044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weeks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2651760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R45k–R120k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138160" y="1691640"/>
            <a:ext cx="3502152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38160" y="1691640"/>
            <a:ext cx="3502152" cy="164592"/>
          </a:xfrm>
          <a:prstGeom prst="roundRect">
            <a:avLst/>
          </a:prstGeom>
          <a:solidFill>
            <a:srgbClr val="00A36C"/>
          </a:solidFill>
          <a:ln w="12700">
            <a:solidFill>
              <a:srgbClr val="00A36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66760" y="1947672"/>
            <a:ext cx="3044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Roadmap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66760" y="2331720"/>
            <a:ext cx="3044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weeks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66760" y="2651760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R75k–R160k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48640" y="3520440"/>
            <a:ext cx="3502152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3520440"/>
            <a:ext cx="3502152" cy="164592"/>
          </a:xfrm>
          <a:prstGeom prst="roundRect">
            <a:avLst/>
          </a:prstGeom>
          <a:solidFill>
            <a:srgbClr val="B56BFF"/>
          </a:solidFill>
          <a:ln w="12700">
            <a:solidFill>
              <a:srgbClr val="B56B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3776472"/>
            <a:ext cx="3044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Improvement Package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77240" y="4160520"/>
            <a:ext cx="3044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weeks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4480560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5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R60k–R180k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4343400" y="3520440"/>
            <a:ext cx="3502152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343400" y="3520440"/>
            <a:ext cx="3502152" cy="164592"/>
          </a:xfrm>
          <a:prstGeom prst="roundRect">
            <a:avLst/>
          </a:prstGeom>
          <a:solidFill>
            <a:srgbClr val="FF8C2D"/>
          </a:solidFill>
          <a:ln w="12700">
            <a:solidFill>
              <a:srgbClr val="FF8C2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3776472"/>
            <a:ext cx="3044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Strategy Starter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572000" y="4160520"/>
            <a:ext cx="3044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weeks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0" y="4480560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R150k–R350k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8138160" y="3520440"/>
            <a:ext cx="3502152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138160" y="3520440"/>
            <a:ext cx="3502152" cy="164592"/>
          </a:xfrm>
          <a:prstGeom prst="round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66760" y="3776472"/>
            <a:ext cx="3044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Management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366760" y="4160520"/>
            <a:ext cx="3044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2–6 weeks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366760" y="4480560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R40k–R95k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548640" y="507492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retainers (advisory partnership)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548640" y="5440680"/>
            <a:ext cx="3657600" cy="1051560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D9E2EF"/>
            </a:solidFill>
          </a:ln>
        </p:spPr>
        <p:txBody>
          <a:bodyPr wrap="square" lIns="2286" tIns="2286" rIns="2286" bIns="2286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Lite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hrs/mo • R18k–R25k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434840" y="5440680"/>
            <a:ext cx="3657600" cy="1051560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D9E2EF"/>
            </a:solidFill>
          </a:ln>
        </p:spPr>
        <p:txBody>
          <a:bodyPr wrap="square" lIns="2286" tIns="2286" rIns="2286" bIns="2286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Partner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hrs/mo • R35k–R55k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321040" y="5440680"/>
            <a:ext cx="3657600" cy="1051560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D9E2EF"/>
            </a:solidFill>
          </a:ln>
        </p:spPr>
        <p:txBody>
          <a:bodyPr wrap="square" lIns="2286" tIns="2286" rIns="2286" bIns="2286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Advisor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hrs/mo • R65k–R95k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21792"/>
            <a:ext cx="12188952" cy="36576"/>
          </a:xfrm>
          <a:prstGeom prst="rect">
            <a:avLst/>
          </a:prstGeom>
          <a:solidFill>
            <a:srgbClr val="00B3C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Models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0" y="201168"/>
            <a:ext cx="441655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D9E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clients work with us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Khumbudzo Mufamadi Consulting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0" y="6565392"/>
            <a:ext cx="5330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packages • Pricing excludes VAT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9601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engagement options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48640" y="1737360"/>
            <a:ext cx="36576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737360"/>
            <a:ext cx="3657600" cy="164592"/>
          </a:xfrm>
          <a:prstGeom prst="roundRect">
            <a:avLst/>
          </a:prstGeom>
          <a:solidFill>
            <a:srgbClr val="00B3C6"/>
          </a:solidFill>
          <a:ln w="12700">
            <a:solidFill>
              <a:srgbClr val="00B3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011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(fast start)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2514600"/>
            <a:ext cx="31089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1-day discovery / alignment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problem statement &amp; priorities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Next-step plan and proposal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34840" y="1737360"/>
            <a:ext cx="36576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34840" y="1737360"/>
            <a:ext cx="3657600" cy="164592"/>
          </a:xfrm>
          <a:prstGeom prst="roundRect">
            <a:avLst/>
          </a:prstGeom>
          <a:solidFill>
            <a:srgbClr val="2D8CFF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011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Project-based delivery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54880" y="2514600"/>
            <a:ext cx="31089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scope, deliverables and timeline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BA and implementation support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 sign-off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321040" y="1737360"/>
            <a:ext cx="36576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21040" y="1737360"/>
            <a:ext cx="3657600" cy="164592"/>
          </a:xfrm>
          <a:prstGeom prst="roundRect">
            <a:avLst/>
          </a:prstGeom>
          <a:solidFill>
            <a:srgbClr val="00A36C"/>
          </a:solidFill>
          <a:ln w="12700">
            <a:solidFill>
              <a:srgbClr val="00A36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49640" y="2011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retainer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641080" y="2514600"/>
            <a:ext cx="31089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advisory and governance support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shaping and decision support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 + AI adoption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21792"/>
            <a:ext cx="12188952" cy="36576"/>
          </a:xfrm>
          <a:prstGeom prst="rect">
            <a:avLst/>
          </a:prstGeom>
          <a:solidFill>
            <a:srgbClr val="00B3C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&amp; Delivery Fit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0" y="201168"/>
            <a:ext cx="441655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D9E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add value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565392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Khumbudzo Mufamadi Consulting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0" y="6565392"/>
            <a:ext cx="5330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packages • Pricing excludes VAT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9601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Industries and delivery methods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5623560" cy="4800600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874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Industries served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224028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sector &amp; government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&amp; enterprise services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digital platforms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services &amp; operations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2519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ways of working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8680" y="4617720"/>
            <a:ext cx="5120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Agile, Waterfall &amp; Hybrid delivery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mapping (as-is/to-be)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ERP/CRM/SAP and web-based systems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reporting and KPI dashboards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planning &amp; execution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0" y="1691640"/>
            <a:ext cx="5239512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20840" y="18745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clients choose us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720840" y="2240280"/>
            <a:ext cx="4617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facilitation: clear alignment and fast decisions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documentation that accelerates delivery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implementation support (not just analysis)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Customer-centric outcomes and measurable KPIs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3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AI-ready approach with governance and adoption built in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720840" y="5074920"/>
            <a:ext cx="4617720" cy="1207008"/>
          </a:xfrm>
          <a:prstGeom prst="roundRect">
            <a:avLst/>
          </a:prstGeom>
          <a:solidFill>
            <a:srgbClr val="0F2B4D"/>
          </a:solidFill>
          <a:ln w="12700">
            <a:solidFill>
              <a:srgbClr val="0F2B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95160" y="525780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delivery available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95160" y="5577840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Workshops, requirements, and advisory delivered on-site or remotely.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F3A"/>
          </a:solidFill>
          <a:ln/>
        </p:spPr>
      </p:sp>
      <p:pic>
        <p:nvPicPr>
          <p:cNvPr id="3" name="Image 0" descr="/mnt/data/assets/digital_city_bg.jpg">    </p:cNvPr>
          <p:cNvPicPr>
            <a:picLocks noChangeAspect="1"/>
          </p:cNvPicPr>
          <p:nvPr/>
        </p:nvPicPr>
        <p:blipFill>
          <a:blip r:embed="rId1"/>
          <a:srcRect l="0" r="0" t="10609" b="10609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F3A">
              <a:alpha val="8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00B3C6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2344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talk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822960" y="192024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discovery session to confirm scope, outcomes and the best package.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22960" y="2743200"/>
            <a:ext cx="10607040" cy="2103120"/>
          </a:xfrm>
          <a:prstGeom prst="roundRect">
            <a:avLst/>
          </a:prstGeom>
          <a:solidFill>
            <a:srgbClr val="0F2B4D">
              <a:alpha val="95000"/>
            </a:srgbClr>
          </a:solidFill>
          <a:ln w="12700">
            <a:solidFill>
              <a:srgbClr val="0F2B4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0" y="2971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143000" y="342900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Phone: 060 569 3798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9E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khumbudzo.mufamadi@gmail.com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9E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Johannesburg, South Africa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315200" y="3246120"/>
            <a:ext cx="3886200" cy="1371600"/>
          </a:xfrm>
          <a:prstGeom prst="roundRect">
            <a:avLst/>
          </a:prstGeom>
          <a:solidFill>
            <a:srgbClr val="00B3C6"/>
          </a:solidFill>
          <a:ln w="12700">
            <a:solidFill>
              <a:srgbClr val="00B3C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43800" y="34564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543800" y="37490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short email with: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your goal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timeframe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 stakeholders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Khumbudzo Mufamadi Consulting</dc:creator>
  <cp:lastModifiedBy>Khumbudzo Mufamadi Consulting</cp:lastModifiedBy>
  <cp:revision>1</cp:revision>
  <dcterms:created xsi:type="dcterms:W3CDTF">2026-02-17T13:48:51Z</dcterms:created>
  <dcterms:modified xsi:type="dcterms:W3CDTF">2026-02-17T13:48:51Z</dcterms:modified>
</cp:coreProperties>
</file>